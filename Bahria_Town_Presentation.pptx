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  <a:latin typeface="Calibri"/>
              </a:rPr>
              <a:t>CYBER SECURITY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Bahria Town
IT Security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7448" y="37947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9445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Student:  </a:t>
            </a:r>
            <a:r>
              <a:rPr sz="1800" b="0">
                <a:solidFill>
                  <a:srgbClr val="FFFFFF"/>
                </a:solidFill>
                <a:latin typeface="Calibri"/>
              </a:rPr>
              <a:t>Huzaifa Bin Mudassar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College:  </a:t>
            </a:r>
            <a:r>
              <a:rPr sz="1800" b="0">
                <a:solidFill>
                  <a:srgbClr val="FFFFFF"/>
                </a:solidFill>
                <a:latin typeface="Calibri"/>
              </a:rPr>
              <a:t>The Superior International College, Rahim Yar Khan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Company:  </a:t>
            </a:r>
            <a:r>
              <a:rPr sz="1800" b="0">
                <a:solidFill>
                  <a:srgbClr val="FFFFFF"/>
                </a:solidFill>
                <a:latin typeface="Calibri"/>
              </a:rPr>
              <a:t>Bahria Town Pvt. Ltd. — IT Department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Duration:  </a:t>
            </a:r>
            <a:r>
              <a:rPr sz="1800" b="0">
                <a:solidFill>
                  <a:srgbClr val="FFFFFF"/>
                </a:solidFill>
                <a:latin typeface="Calibri"/>
              </a:rPr>
              <a:t>April 2026  to  June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03</a:t>
            </a:r>
            <a:r>
              <a:rPr sz="1800" b="0">
                <a:solidFill>
                  <a:srgbClr val="FFFFFF"/>
                </a:solidFill>
                <a:latin typeface="Calibri"/>
              </a:rPr>
              <a:t>   About the Company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04</a:t>
            </a:r>
            <a:r>
              <a:rPr sz="1800" b="0">
                <a:solidFill>
                  <a:srgbClr val="FFFFFF"/>
                </a:solidFill>
                <a:latin typeface="Calibri"/>
              </a:rPr>
              <a:t>   IT Systems Used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05</a:t>
            </a:r>
            <a:r>
              <a:rPr sz="1800" b="0">
                <a:solidFill>
                  <a:srgbClr val="FFFFFF"/>
                </a:solidFill>
                <a:latin typeface="Calibri"/>
              </a:rPr>
              <a:t>   Network Setup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06</a:t>
            </a:r>
            <a:r>
              <a:rPr sz="1800" b="0">
                <a:solidFill>
                  <a:srgbClr val="FFFFFF"/>
                </a:solidFill>
                <a:latin typeface="Calibri"/>
              </a:rPr>
              <a:t>   Cyber Threats Found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07</a:t>
            </a:r>
            <a:r>
              <a:rPr sz="1800" b="0">
                <a:solidFill>
                  <a:srgbClr val="FFFFFF"/>
                </a:solidFill>
                <a:latin typeface="Calibri"/>
              </a:rPr>
              <a:t>   Risk Level Chart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08</a:t>
            </a:r>
            <a:r>
              <a:rPr sz="1800" b="0">
                <a:solidFill>
                  <a:srgbClr val="FFFFFF"/>
                </a:solidFill>
                <a:latin typeface="Calibri"/>
              </a:rPr>
              <a:t>   Security Problems Found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09</a:t>
            </a:r>
            <a:r>
              <a:rPr sz="1800" b="0">
                <a:solidFill>
                  <a:srgbClr val="FFFFFF"/>
                </a:solidFill>
                <a:latin typeface="Calibri"/>
              </a:rPr>
              <a:t>   Our Secure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10</a:t>
            </a:r>
            <a:r>
              <a:rPr sz="1800" b="0">
                <a:solidFill>
                  <a:srgbClr val="FFFFFF"/>
                </a:solidFill>
                <a:latin typeface="Calibri"/>
              </a:rPr>
              <a:t>   Security Features in Website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11</a:t>
            </a:r>
            <a:r>
              <a:rPr sz="1800" b="0">
                <a:solidFill>
                  <a:srgbClr val="FFFFFF"/>
                </a:solidFill>
                <a:latin typeface="Calibri"/>
              </a:rPr>
              <a:t>   Mobile and Cloud Risks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12</a:t>
            </a:r>
            <a:r>
              <a:rPr sz="1800" b="0">
                <a:solidFill>
                  <a:srgbClr val="FFFFFF"/>
                </a:solidFill>
                <a:latin typeface="Calibri"/>
              </a:rPr>
              <a:t>   What To Do When Hacked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13</a:t>
            </a:r>
            <a:r>
              <a:rPr sz="1800" b="0">
                <a:solidFill>
                  <a:srgbClr val="FFFFFF"/>
                </a:solidFill>
                <a:latin typeface="Calibri"/>
              </a:rPr>
              <a:t>   Data Protection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14</a:t>
            </a:r>
            <a:r>
              <a:rPr sz="1800" b="0">
                <a:solidFill>
                  <a:srgbClr val="FFFFFF"/>
                </a:solidFill>
                <a:latin typeface="Calibri"/>
              </a:rPr>
              <a:t>   Our Suggestions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15</a:t>
            </a:r>
            <a:r>
              <a:rPr sz="1800" b="0">
                <a:solidFill>
                  <a:srgbClr val="FFFFFF"/>
                </a:solidFill>
                <a:latin typeface="Calibri"/>
              </a:rPr>
              <a:t>   What I Learned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16</a:t>
            </a:r>
            <a:r>
              <a:rPr sz="1800" b="0">
                <a:solidFill>
                  <a:srgbClr val="FFFFFF"/>
                </a:solidFill>
                <a:latin typeface="Calibri"/>
              </a:rPr>
              <a:t>   Summary and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About the Company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Bahria Town is one of the largest real estate developers in Pakistan.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Head offices are located in Rawalpindi and Islamabad.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It runs a large, in-house IT department supporting all operations.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The IT team manages websites, business software and networks.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Thousands of staff and customers rely on these systems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IT Systems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645920"/>
            <a:ext cx="5257800" cy="1874519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/>
            <a:r>
              <a:rPr sz="2000" b="1">
                <a:solidFill>
                  <a:srgbClr val="00D4FF"/>
                </a:solidFill>
                <a:latin typeface="Calibri"/>
              </a:rPr>
              <a:t>Computers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Dell servers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Windows 10 / 11 workstations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216" y="1645920"/>
            <a:ext cx="5257800" cy="1874519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/>
            <a:r>
              <a:rPr sz="2000" b="1">
                <a:solidFill>
                  <a:srgbClr val="00D4FF"/>
                </a:solidFill>
                <a:latin typeface="Calibri"/>
              </a:rPr>
              <a:t>Software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ERP business system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Microsoft 365 suite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3931920"/>
            <a:ext cx="5257800" cy="1874519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/>
            <a:r>
              <a:rPr sz="2000" b="1">
                <a:solidFill>
                  <a:srgbClr val="00D4FF"/>
                </a:solidFill>
                <a:latin typeface="Calibri"/>
              </a:rPr>
              <a:t>Cloud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Microsoft Azure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Hosting &amp; cloud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3931920"/>
            <a:ext cx="5257800" cy="1874519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/>
            <a:r>
              <a:rPr sz="2000" b="1">
                <a:solidFill>
                  <a:srgbClr val="00D4FF"/>
                </a:solidFill>
                <a:latin typeface="Calibri"/>
              </a:rPr>
              <a:t>Security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Kaspersky Antivirus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CCTV surveillance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Network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Built on Cisco routers and switches, secured by a Fortinet firewall.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Uses a 3-layer design:  Core,  Distribution  and  Access.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2514600"/>
          <a:ext cx="1005840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69494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Main Job in the Network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Cisco Router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Connects the office network to the internet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Cisco Switch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Links computers and devices inside the office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Fortinet Firewall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Blocks cyber attacks and filters traffic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Core Layer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Fast central backbone connecting everything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Distribution Layer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Controls routing and security between zones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Access Layer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Connects staff PCs, phones and printers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Cyber Threats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783080"/>
          <a:ext cx="10515600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103120"/>
                <a:gridCol w="5943600"/>
              </a:tblGrid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Risk Level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Phishing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9F40"/>
                          </a:solidFill>
                          <a:latin typeface="Calibri"/>
                        </a:rPr>
                        <a:t>High Risk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Fake emails trick staff into sharing passwords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Ransomware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5C5C"/>
                          </a:solidFill>
                          <a:latin typeface="Calibri"/>
                        </a:rPr>
                        <a:t>Very High Risk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Malware locks files and demands payment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Insider Threats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9F40"/>
                          </a:solidFill>
                          <a:latin typeface="Calibri"/>
                        </a:rPr>
                        <a:t>High Risk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Staff misuse their access to company data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Hacking Attempts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D24D"/>
                          </a:solidFill>
                          <a:latin typeface="Calibri"/>
                        </a:rPr>
                        <a:t>Medium Risk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Outsiders try to break into the systems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Data Theft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5C5C"/>
                          </a:solidFill>
                          <a:latin typeface="Calibri"/>
                        </a:rPr>
                        <a:t>Very High Risk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Customer or company data is stolen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Risk Level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9AA3C7"/>
                </a:solidFill>
                <a:latin typeface="Calibri"/>
              </a:rPr>
              <a:t>Likelihood  ×  Impact  =  Risk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600200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2424" y="1600200"/>
            <a:ext cx="996695" cy="649224"/>
          </a:xfrm>
          <a:prstGeom prst="rect">
            <a:avLst/>
          </a:prstGeom>
          <a:solidFill>
            <a:srgbClr val="FFD24D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3127" y="1600200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424"/>
                </a:solidFill>
                <a:latin typeface="Calibri"/>
              </a:rPr>
              <a:t>Phishing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13831" y="1600200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74536" y="1600200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313432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2424" y="2313432"/>
            <a:ext cx="996695" cy="649224"/>
          </a:xfrm>
          <a:prstGeom prst="rect">
            <a:avLst/>
          </a:prstGeom>
          <a:solidFill>
            <a:srgbClr val="FFD24D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7" y="2313432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13831" y="2313432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74536" y="2313432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424"/>
                </a:solidFill>
                <a:latin typeface="Calibri"/>
              </a:rPr>
              <a:t>Ransomware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026664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2424" y="3026664"/>
            <a:ext cx="996695" cy="649224"/>
          </a:xfrm>
          <a:prstGeom prst="rect">
            <a:avLst/>
          </a:prstGeom>
          <a:solidFill>
            <a:srgbClr val="FFD24D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3127" y="3026664"/>
            <a:ext cx="996695" cy="649224"/>
          </a:xfrm>
          <a:prstGeom prst="rect">
            <a:avLst/>
          </a:prstGeom>
          <a:solidFill>
            <a:srgbClr val="FFD24D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13831" y="3026664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424"/>
                </a:solidFill>
                <a:latin typeface="Calibri"/>
              </a:rPr>
              <a:t>Insider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74536" y="3026664"/>
            <a:ext cx="996695" cy="649224"/>
          </a:xfrm>
          <a:prstGeom prst="rect">
            <a:avLst/>
          </a:prstGeom>
          <a:solidFill>
            <a:srgbClr val="FF5C5C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424"/>
                </a:solidFill>
                <a:latin typeface="Calibri"/>
              </a:rPr>
              <a:t>Data Theft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739896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2424" y="3739896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3127" y="3739896"/>
            <a:ext cx="996695" cy="649224"/>
          </a:xfrm>
          <a:prstGeom prst="rect">
            <a:avLst/>
          </a:prstGeom>
          <a:solidFill>
            <a:srgbClr val="FFD24D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424"/>
                </a:solidFill>
                <a:latin typeface="Calibri"/>
              </a:rPr>
              <a:t>Hacking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13831" y="3739896"/>
            <a:ext cx="996695" cy="649224"/>
          </a:xfrm>
          <a:prstGeom prst="rect">
            <a:avLst/>
          </a:prstGeom>
          <a:solidFill>
            <a:srgbClr val="FFD24D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74536" y="3739896"/>
            <a:ext cx="996695" cy="649224"/>
          </a:xfrm>
          <a:prstGeom prst="rect">
            <a:avLst/>
          </a:prstGeom>
          <a:solidFill>
            <a:srgbClr val="FFD24D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31720" y="4453128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2424" y="4453128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53127" y="4453128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3831" y="4453128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74536" y="4453128"/>
            <a:ext cx="996695" cy="649224"/>
          </a:xfrm>
          <a:prstGeom prst="rect">
            <a:avLst/>
          </a:prstGeom>
          <a:solidFill>
            <a:srgbClr val="46D17F"/>
          </a:solidFill>
          <a:ln w="19050">
            <a:solidFill>
              <a:srgbClr val="1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39" y="1600200"/>
            <a:ext cx="3657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39" y="2313432"/>
            <a:ext cx="3657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39" y="3026664"/>
            <a:ext cx="3657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39" y="3739896"/>
            <a:ext cx="3657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39" y="4453128"/>
            <a:ext cx="3657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184648"/>
            <a:ext cx="996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92424" y="5184648"/>
            <a:ext cx="996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7" y="5184648"/>
            <a:ext cx="996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3831" y="5184648"/>
            <a:ext cx="996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4536" y="5184648"/>
            <a:ext cx="996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495544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Impact  →  (how bad the damage)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320040" y="29718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Likelihood  →  (how often)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1417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1920240"/>
            <a:ext cx="384048" cy="384048"/>
          </a:xfrm>
          <a:prstGeom prst="rect">
            <a:avLst/>
          </a:prstGeom>
          <a:solidFill>
            <a:srgbClr val="46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79992" y="1874520"/>
            <a:ext cx="2880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Safe  —  Low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2606040"/>
            <a:ext cx="384048" cy="384048"/>
          </a:xfrm>
          <a:prstGeom prst="rect">
            <a:avLst/>
          </a:prstGeom>
          <a:solidFill>
            <a:srgbClr val="FFD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9992" y="2560320"/>
            <a:ext cx="2880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Warning  —  Medium Risk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3291840"/>
            <a:ext cx="384048" cy="384048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9992" y="3246120"/>
            <a:ext cx="2880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Danger  —  High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Security Problems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69848" y="1828800"/>
          <a:ext cx="1005840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2743200"/>
                <a:gridCol w="274320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Severity Score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F1424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128016" marR="91440" marT="36576" marB="36576">
                    <a:solidFill>
                      <a:srgbClr val="00D4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Weak Passwords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8 / 10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5C5C"/>
                          </a:solidFill>
                          <a:latin typeface="Calibri"/>
                        </a:rPr>
                        <a:t>Not Fixed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Old Software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7 / 10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D24D"/>
                          </a:solidFill>
                          <a:latin typeface="Calibri"/>
                        </a:rPr>
                        <a:t>Being Fixed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No Email Protection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7 / 10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5C5C"/>
                          </a:solidFill>
                          <a:latin typeface="Calibri"/>
                        </a:rPr>
                        <a:t>Not Fixed</a:t>
                      </a:r>
                    </a:p>
                  </a:txBody>
                  <a:tcPr anchor="ctr" marL="128016" marR="91440" marT="36576" marB="36576">
                    <a:solidFill>
                      <a:srgbClr val="232A5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No Staff Training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9 / 10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5C5C"/>
                          </a:solidFill>
                          <a:latin typeface="Calibri"/>
                        </a:rPr>
                        <a:t>Not Fixed</a:t>
                      </a:r>
                    </a:p>
                  </a:txBody>
                  <a:tcPr anchor="ctr" marL="128016" marR="91440" marT="36576" marB="36576">
                    <a:solidFill>
                      <a:srgbClr val="2D36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Our Secure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6583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 b="1">
                <a:solidFill>
                  <a:srgbClr val="00D4FF"/>
                </a:solidFill>
                <a:latin typeface="Calibri"/>
              </a:rPr>
              <a:t>Project Name:  </a:t>
            </a:r>
            <a:r>
              <a:rPr sz="1800" b="0">
                <a:solidFill>
                  <a:srgbClr val="FFFFFF"/>
                </a:solidFill>
                <a:latin typeface="Calibri"/>
              </a:rPr>
              <a:t>SecureShield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Built with Python Flask and a SQLite database.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Secure login system with password protection.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Tracks threats, incidents and risks in one place.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Interactive dashboard with charts and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3657600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137160" bIns="137160"/>
          <a:lstStyle/>
          <a:p>
            <a:pPr algn="ctr"/>
            <a:r>
              <a:rPr sz="2000" b="1">
                <a:solidFill>
                  <a:srgbClr val="00D4FF"/>
                </a:solidFill>
                <a:latin typeface="Calibri"/>
              </a:rPr>
              <a:t>Tech Stack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Python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Flask (web framework)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SQLite (database)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HTML / CSS / Bootstrap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500" b="1">
                <a:solidFill>
                  <a:srgbClr val="00D4FF"/>
                </a:solidFill>
                <a:latin typeface="Calibri"/>
              </a:rPr>
              <a:t>•  </a:t>
            </a:r>
            <a:r>
              <a:rPr sz="1500" b="0">
                <a:solidFill>
                  <a:srgbClr val="FFFFFF"/>
                </a:solidFill>
                <a:latin typeface="Calibri"/>
              </a:rPr>
              <a:t>Charts &amp;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Security Features in Our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✔  </a:t>
            </a:r>
            <a:r>
              <a:rPr sz="2000" b="0">
                <a:solidFill>
                  <a:srgbClr val="FFFFFF"/>
                </a:solidFill>
                <a:latin typeface="Calibri"/>
              </a:rPr>
              <a:t>Passwords are encrypted (hashed) before they are stored.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✔  </a:t>
            </a:r>
            <a:r>
              <a:rPr sz="2000" b="0">
                <a:solidFill>
                  <a:srgbClr val="FFFFFF"/>
                </a:solidFill>
                <a:latin typeface="Calibri"/>
              </a:rPr>
              <a:t>Login is protected — the account locks after 5 failed tries.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✔  </a:t>
            </a:r>
            <a:r>
              <a:rPr sz="2000" b="0">
                <a:solidFill>
                  <a:srgbClr val="FFFFFF"/>
                </a:solidFill>
                <a:latin typeface="Calibri"/>
              </a:rPr>
              <a:t>Role-based access: users have different permission levels.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✔  </a:t>
            </a:r>
            <a:r>
              <a:rPr sz="2000" b="0">
                <a:solidFill>
                  <a:srgbClr val="FFFFFF"/>
                </a:solidFill>
                <a:latin typeface="Calibri"/>
              </a:rPr>
              <a:t>Every action is recorded in audit logs for tracking.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✔  </a:t>
            </a:r>
            <a:r>
              <a:rPr sz="2000" b="0">
                <a:solidFill>
                  <a:srgbClr val="FFFFFF"/>
                </a:solidFill>
                <a:latin typeface="Calibri"/>
              </a:rPr>
              <a:t>Protected against common attacks (SQL injection and XSS).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Mobile and Cloud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Staff use personal phones for work (BYOD risk).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Some phones run old software that is not updated.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People use public Wi-Fi, which is not safe for company data.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Files are stored on the cloud without proper access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What To Do When Hacked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9AA3C7"/>
                </a:solidFill>
                <a:latin typeface="Calibri"/>
              </a:rPr>
              <a:t>Incident Response Plan — 5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" y="2468880"/>
            <a:ext cx="2057400" cy="2286000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2920" lIns="109728" rIns="109728"/>
          <a:lstStyle/>
          <a:p>
            <a:pPr algn="ctr"/>
            <a:r>
              <a:rPr sz="1600" b="1">
                <a:solidFill>
                  <a:srgbClr val="00D4FF"/>
                </a:solidFill>
                <a:latin typeface="Calibri"/>
              </a:rPr>
              <a:t>Identify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Find the problem and detect the breach</a:t>
            </a:r>
          </a:p>
        </p:txBody>
      </p:sp>
      <p:sp>
        <p:nvSpPr>
          <p:cNvPr id="10" name="Oval 9"/>
          <p:cNvSpPr/>
          <p:nvPr/>
        </p:nvSpPr>
        <p:spPr>
          <a:xfrm>
            <a:off x="1350111" y="2167128"/>
            <a:ext cx="603504" cy="6035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42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2275" y="3291840"/>
            <a:ext cx="25603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5155" y="2468880"/>
            <a:ext cx="2057400" cy="2286000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2920" lIns="109728" rIns="109728"/>
          <a:lstStyle/>
          <a:p>
            <a:pPr algn="ctr"/>
            <a:r>
              <a:rPr sz="1600" b="1">
                <a:solidFill>
                  <a:srgbClr val="00D4FF"/>
                </a:solidFill>
                <a:latin typeface="Calibri"/>
              </a:rPr>
              <a:t>Contain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Stop it from spreading further</a:t>
            </a:r>
          </a:p>
        </p:txBody>
      </p:sp>
      <p:sp>
        <p:nvSpPr>
          <p:cNvPr id="13" name="Oval 12"/>
          <p:cNvSpPr/>
          <p:nvPr/>
        </p:nvSpPr>
        <p:spPr>
          <a:xfrm>
            <a:off x="3572103" y="2167128"/>
            <a:ext cx="603504" cy="6035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42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267" y="3291840"/>
            <a:ext cx="25603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7147" y="2468880"/>
            <a:ext cx="2057400" cy="2286000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2920" lIns="109728" rIns="109728"/>
          <a:lstStyle/>
          <a:p>
            <a:pPr algn="ctr"/>
            <a:r>
              <a:rPr sz="1600" b="1">
                <a:solidFill>
                  <a:srgbClr val="00D4FF"/>
                </a:solidFill>
                <a:latin typeface="Calibri"/>
              </a:rPr>
              <a:t>Eradicate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Remove the threat completely</a:t>
            </a:r>
          </a:p>
        </p:txBody>
      </p:sp>
      <p:sp>
        <p:nvSpPr>
          <p:cNvPr id="16" name="Oval 15"/>
          <p:cNvSpPr/>
          <p:nvPr/>
        </p:nvSpPr>
        <p:spPr>
          <a:xfrm>
            <a:off x="5794095" y="2167128"/>
            <a:ext cx="603504" cy="6035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42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259" y="3291840"/>
            <a:ext cx="25603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9139" y="2468880"/>
            <a:ext cx="2057400" cy="2286000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2920" lIns="109728" rIns="109728"/>
          <a:lstStyle/>
          <a:p>
            <a:pPr algn="ctr"/>
            <a:r>
              <a:rPr sz="1600" b="1">
                <a:solidFill>
                  <a:srgbClr val="00D4FF"/>
                </a:solidFill>
                <a:latin typeface="Calibri"/>
              </a:rPr>
              <a:t>Recover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Fix and restore the systems</a:t>
            </a:r>
          </a:p>
        </p:txBody>
      </p:sp>
      <p:sp>
        <p:nvSpPr>
          <p:cNvPr id="19" name="Oval 18"/>
          <p:cNvSpPr/>
          <p:nvPr/>
        </p:nvSpPr>
        <p:spPr>
          <a:xfrm>
            <a:off x="8016087" y="2167128"/>
            <a:ext cx="603504" cy="6035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424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8251" y="3291840"/>
            <a:ext cx="256032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11131" y="2468880"/>
            <a:ext cx="2057400" cy="2286000"/>
          </a:xfrm>
          <a:prstGeom prst="roundRect">
            <a:avLst/>
          </a:prstGeom>
          <a:solidFill>
            <a:srgbClr val="232A5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2920" lIns="109728" rIns="109728"/>
          <a:lstStyle/>
          <a:p>
            <a:pPr algn="ctr"/>
            <a:r>
              <a:rPr sz="1600" b="1">
                <a:solidFill>
                  <a:srgbClr val="00D4FF"/>
                </a:solidFill>
                <a:latin typeface="Calibri"/>
              </a:rPr>
              <a:t>Improve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Learn lessons and improve defences</a:t>
            </a:r>
          </a:p>
        </p:txBody>
      </p:sp>
      <p:sp>
        <p:nvSpPr>
          <p:cNvPr id="22" name="Oval 21"/>
          <p:cNvSpPr/>
          <p:nvPr/>
        </p:nvSpPr>
        <p:spPr>
          <a:xfrm>
            <a:off x="10238079" y="2167128"/>
            <a:ext cx="603504" cy="6035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42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Data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Bahria Town stores customers' personal data (names, contacts, payments).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This data must be kept safe, private and confidential.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The company follows data protection rules and policies.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Only authorised staff are allowed to access the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32720" cy="777240"/>
          </a:xfrm>
          <a:prstGeom prst="roundRect">
            <a:avLst/>
          </a:prstGeom>
          <a:solidFill>
            <a:srgbClr val="2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D4FF"/>
                </a:solidFill>
                <a:latin typeface="Calibri"/>
              </a:rPr>
              <a:t>Core principle:  </a:t>
            </a:r>
            <a:r>
              <a:rPr sz="1600" b="0">
                <a:solidFill>
                  <a:srgbClr val="FFFFFF"/>
                </a:solidFill>
                <a:latin typeface="Calibri"/>
              </a:rPr>
              <a:t>Confidentiality  •  Integrity  •  Availability  (the CIA Triad)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Our Suggestions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10515600" cy="868680"/>
          </a:xfrm>
          <a:prstGeom prst="roundRect">
            <a:avLst/>
          </a:prstGeom>
          <a:solidFill>
            <a:srgbClr val="2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1792224"/>
            <a:ext cx="2286000" cy="576071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424"/>
                </a:solidFill>
                <a:latin typeface="Calibri"/>
              </a:rPr>
              <a:t>RIGHT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7680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Turn on 2-step login (2FA) for all staff accounts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70632"/>
            <a:ext cx="10515600" cy="868680"/>
          </a:xfrm>
          <a:prstGeom prst="roundRect">
            <a:avLst/>
          </a:prstGeom>
          <a:solidFill>
            <a:srgbClr val="2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2916936"/>
            <a:ext cx="2286000" cy="576071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424"/>
                </a:solidFill>
                <a:latin typeface="Calibri"/>
              </a:rPr>
              <a:t>THIS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70632"/>
            <a:ext cx="7680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Train all staff about cyber safety and awareness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95344"/>
            <a:ext cx="10515600" cy="868680"/>
          </a:xfrm>
          <a:prstGeom prst="roundRect">
            <a:avLst/>
          </a:prstGeom>
          <a:solidFill>
            <a:srgbClr val="2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4041648"/>
            <a:ext cx="2286000" cy="576071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424"/>
                </a:solidFill>
                <a:latin typeface="Calibri"/>
              </a:rPr>
              <a:t>THIS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895344"/>
            <a:ext cx="7680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Set up 24/7 security monitoring (SOC)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20056"/>
            <a:ext cx="10515600" cy="868680"/>
          </a:xfrm>
          <a:prstGeom prst="roundRect">
            <a:avLst/>
          </a:prstGeom>
          <a:solidFill>
            <a:srgbClr val="2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5166360"/>
            <a:ext cx="2286000" cy="576071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424"/>
                </a:solidFill>
                <a:latin typeface="Calibri"/>
              </a:rP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020056"/>
            <a:ext cx="7680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Follow international security standards (ISO 27001)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What I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Completed an 8-week internship at the Bahria Town IT Department.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Learned how real companies protect their data and systems.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Built a working security web application (SecureShield).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Wrote a full security analysis report.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00D4FF"/>
                </a:solidFill>
                <a:latin typeface="Calibri"/>
              </a:rPr>
              <a:t>▸  </a:t>
            </a:r>
            <a:r>
              <a:rPr sz="2000" b="0">
                <a:solidFill>
                  <a:srgbClr val="FFFFFF"/>
                </a:solidFill>
                <a:latin typeface="Calibri"/>
              </a:rPr>
              <a:t>Gained skills in network setup and threat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Summary and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3108960" cy="411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4552" cy="12801"/>
          </a:xfrm>
          <a:prstGeom prst="rect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3C7"/>
                </a:solidFill>
                <a:latin typeface="Calibri"/>
              </a:rPr>
              <a:t>Bahria Town IT Security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6400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 b="1">
                <a:solidFill>
                  <a:srgbClr val="00D4FF"/>
                </a:solidFill>
                <a:latin typeface="Calibri"/>
              </a:rPr>
              <a:t>▸  </a:t>
            </a:r>
            <a:r>
              <a:rPr sz="1900" b="0">
                <a:solidFill>
                  <a:srgbClr val="FFFFFF"/>
                </a:solidFill>
                <a:latin typeface="Calibri"/>
              </a:rPr>
              <a:t>Found many real security problems across the IT systems.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 b="1">
                <a:solidFill>
                  <a:srgbClr val="00D4FF"/>
                </a:solidFill>
                <a:latin typeface="Calibri"/>
              </a:rPr>
              <a:t>▸  </a:t>
            </a:r>
            <a:r>
              <a:rPr sz="1900" b="0">
                <a:solidFill>
                  <a:srgbClr val="FFFFFF"/>
                </a:solidFill>
                <a:latin typeface="Calibri"/>
              </a:rPr>
              <a:t>Built SecureShield to help track and fix those problems.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900" b="1">
                <a:solidFill>
                  <a:srgbClr val="00D4FF"/>
                </a:solidFill>
                <a:latin typeface="Calibri"/>
              </a:rPr>
              <a:t>▸  </a:t>
            </a:r>
            <a:r>
              <a:rPr sz="1900" b="0">
                <a:solidFill>
                  <a:srgbClr val="FFFFFF"/>
                </a:solidFill>
                <a:latin typeface="Calibri"/>
              </a:rPr>
              <a:t>Delivered a full report with clear, practical recommendations.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7448" y="406908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60152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9811512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Special thanks to Bahria Town Pvt. Ltd. (IT Department) and The Superior International College, Rahim Yar Khan.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